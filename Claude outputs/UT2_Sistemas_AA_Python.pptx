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377440"/>
            <a:ext cx="7772400" cy="7772400"/>
          </a:xfrm>
          <a:prstGeom prst="ellipse">
            <a:avLst/>
          </a:prstGeom>
          <a:solidFill>
            <a:srgbClr val="372A7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937760"/>
            <a:ext cx="3291840" cy="3291840"/>
          </a:xfrm>
          <a:prstGeom prst="ellipse">
            <a:avLst/>
          </a:prstGeom>
          <a:solidFill>
            <a:srgbClr val="F2A93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2026-2027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de Aprendizaje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Automático + Python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Dejamos la filosofía y entramos en materia: cómo se clasifica un sistema de ML, y las herramientas de Python con las que vas a trabajar el resto del curso.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C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 ·  15 HORAS  ·  5 BLOQUES  ·  SEMANAS 2-6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UNIDAD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ver hoy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1600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sistemas de 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Supervisado, no supervisado y por refuerzo, qué es un modelo, tipos de variables y cómo elegir algoritmo.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441448"/>
            <a:ext cx="10607040" cy="0"/>
          </a:xfrm>
          <a:prstGeom prst="line">
            <a:avLst/>
          </a:prstGeom>
          <a:noFill/>
          <a:ln w="9525">
            <a:solidFill>
              <a:srgbClr val="E1D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96312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4963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trabajo: Python y NumPy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4378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Jupyter/Colab, repaso exprés de Python, y de listas a arrays: creación, agregados y reshape.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10607040" cy="0"/>
          </a:xfrm>
          <a:prstGeom prst="line">
            <a:avLst/>
          </a:prstGeom>
          <a:noFill/>
          <a:ln w="9525">
            <a:solidFill>
              <a:srgbClr val="E1D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92424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33924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carga, selección y combinación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73989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Series, DataFrame, cuatro formas de seleccionar, groupby y merge.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233672"/>
            <a:ext cx="10607040" cy="0"/>
          </a:xfrm>
          <a:prstGeom prst="line">
            <a:avLst/>
          </a:prstGeom>
          <a:noFill/>
          <a:ln w="9525">
            <a:solidFill>
              <a:srgbClr val="E1D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88536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42885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Matplotlib básico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63600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Nulos, duplicados, codificación de categóricas, y tres gráficas esenciales.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129784"/>
            <a:ext cx="10607040" cy="0"/>
          </a:xfrm>
          <a:prstGeom prst="line">
            <a:avLst/>
          </a:prstGeom>
          <a:noFill/>
          <a:ln w="9525">
            <a:solidFill>
              <a:srgbClr val="E1DC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184648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51846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práctica integradora + Scikit-learn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5321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completo, train/test, el patrón fit / predict y el panorama de herramientas.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6025896"/>
            <a:ext cx="10607040" cy="0"/>
          </a:xfrm>
          <a:prstGeom prst="line">
            <a:avLst/>
          </a:prstGeom>
          <a:noFill/>
          <a:ln w="9525">
            <a:solidFill>
              <a:srgbClr val="E1DC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sistemas de Machine Learning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sistema de ML se reduce a esta relación entre tres piezas.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834640" cy="13716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2834640" cy="54864"/>
          </a:xfrm>
          <a:prstGeom prst="rect">
            <a:avLst/>
          </a:prstGeom>
          <a:solidFill>
            <a:srgbClr val="372A7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Ejemplos, con o sin etiqueta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160520" y="2148840"/>
            <a:ext cx="2834640" cy="13716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2148840"/>
            <a:ext cx="2834640" cy="54864"/>
          </a:xfrm>
          <a:prstGeom prst="rect">
            <a:avLst/>
          </a:prstGeom>
          <a:solidFill>
            <a:srgbClr val="372A78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43400" y="2926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con parámetros ajustables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680960" y="2148840"/>
            <a:ext cx="2834640" cy="13716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148840"/>
            <a:ext cx="2834640" cy="54864"/>
          </a:xfrm>
          <a:prstGeom prst="rect">
            <a:avLst/>
          </a:prstGeom>
          <a:solidFill>
            <a:srgbClr val="372A78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63840" y="2926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los parámetros para minimizar el error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0058400" cy="141732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60520"/>
            <a:ext cx="9509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Machine Learning no es una única técnica: es una familia de formas distintas de conectar datos, modelo y entrenamiento — y la forma correcta depende de qué datos tienes.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formas de aprender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337560" cy="475488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764792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58952" y="2286000"/>
            <a:ext cx="28254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etiquetados: cada ejemplo (x_i, y_i) trae su respuesta correcta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una etiqueta para casos nuevos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precio de una casa, spam o no spam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desarrolla a fondo en UT3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60520" y="1508760"/>
            <a:ext cx="3337560" cy="475488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6552" y="1764792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16552" y="2286000"/>
            <a:ext cx="28254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etiquetas: el modelo busca estructura por sí solo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Agrupa, detecta anomalías, reduce dimensiones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agrupar clientes por comportamiento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desarrolla a fondo en UT4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508760"/>
            <a:ext cx="3337560" cy="475488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11" name="Text 9"/>
          <p:cNvSpPr/>
          <p:nvPr/>
        </p:nvSpPr>
        <p:spPr>
          <a:xfrm>
            <a:off x="8074152" y="1764792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REFUERZO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74152" y="2286000"/>
            <a:ext cx="28254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actúa y recibe recompensa o penalización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por prueba y error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un programa que aprende a jugar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Mención breve en este módulo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es, exactamente, un modelo?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es una función que transforma una entrada en una predicción.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058400" cy="123444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= F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87452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48840" y="2057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(x, α)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2423160" cy="1051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472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8130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entrada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337560"/>
            <a:ext cx="2423160" cy="1051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4472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38130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predicción de salida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3337560"/>
            <a:ext cx="2423160" cy="1051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4472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0" y="38130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— los ajusta el entrenamiento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3337560"/>
            <a:ext cx="2423160" cy="1051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34472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38130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— los eliges tú antes de entrenar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10058400" cy="137160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80060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1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predecir dentro del rango de datos ya visto.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1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Aproximación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modelo nunca reproduce la realidad exacta, solo se acerca a ella — por eso hablamos de "ajustar" un modelo, no de "resolverlo".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variables y familias de algoritmos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0241280" cy="19659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SUPERVISADO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72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Grupos / estructura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 continua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72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· Jerárquico · DBSCAN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 · SVR · Redes neuronales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· KNN · Redes profundas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72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Segmentar clientes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de una vivienda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Coche autónomo: ¿frenar?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657600"/>
            <a:ext cx="5029200" cy="233172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FREE LUNCH"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420624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algoritmo mejor que todos los demás para cualquier problema. K-Means asume grupos esféricos; si los datos reales tienen formas irregulares, DBSCAN (que agrupa por densidad) puede funcionar mucho mejor.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3657600"/>
            <a:ext cx="4983480" cy="6858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3730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 blanca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0" y="40050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entiende cómo decide (árboles, regresión lineal)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4434840"/>
            <a:ext cx="4983480" cy="6858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4507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 gris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943600" y="47823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Parcialmente interpretable (SVM con kernel simple)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5212080"/>
            <a:ext cx="4983480" cy="6858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5285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 negra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943600" y="55595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preciso pero difícil de explicar (redes profundas)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3291840"/>
            <a:ext cx="6400800" cy="6400800"/>
          </a:xfrm>
          <a:prstGeom prst="ellipse">
            <a:avLst/>
          </a:prstGeom>
          <a:solidFill>
            <a:srgbClr val="372A78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331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6C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listas a arrays…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2926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misma operación, mucho más rápida.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guarda números homogéneos en un bloque contiguo de memoria y opera sobre todos a la vez, sin bucles explícitos en Python.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entorno de trabajo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notebook mezcla código, resultados y texto en el mismo documento, celda a celda.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120640" cy="18288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591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 / Lab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localmente. Corre en tu propia máquina, sin depender de conexión a internet.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5120640" cy="18288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3591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28803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en la nube, sin instalación previa. Ideal si tu equipo no tiene mucha potencia — Google pone la máquina.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10058400" cy="160020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exprés de Python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comprehension:  </a:t>
            </a:r>
            <a:pPr indent="0" marL="0">
              <a:buNone/>
            </a:pPr>
            <a:r>
              <a:rPr lang="en-US" sz="130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[n**2 for n in range(10) if n % 2 == 0]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16636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con valor por defecto:  </a:t>
            </a:r>
            <a:pPr indent="0" marL="0">
              <a:buNone/>
            </a:pPr>
            <a:r>
              <a:rPr lang="en-US" sz="130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normaliza(valor, minimo=0, maximo=100):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NumPy: indexado, slicing y filtrado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058400" cy="4023360"/>
          </a:xfrm>
          <a:prstGeom prst="rect">
            <a:avLst/>
          </a:prstGeom>
          <a:solidFill>
            <a:srgbClr val="1A1440"/>
          </a:solidFill>
          <a:ln w="12700">
            <a:solidFill>
              <a:srgbClr val="372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9509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 = np.array([10, 20, 30])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 * 2                    # -&gt; array([20, 40, 60])  multiplica cada elemento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np.array([[1, 2, 3], [4, 5, 6], [7, 8, 9]])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m[0]        # -&gt; array([1, 2, 3])     primera fila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m[:, 1]     # -&gt; array([2, 5, 8])     segunda columna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m[m &gt; 5]    # -&gt; array([6, 7, 8, 9])  filtrado booleano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897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casi nunca escribes un for para recorrer datos — escribes la operación una vez, vectorizada, y se aplica a toda la estructura.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NumPy: crear, agregar y combinar arrays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058400" cy="4206240"/>
          </a:xfrm>
          <a:prstGeom prst="rect">
            <a:avLst/>
          </a:prstGeom>
          <a:solidFill>
            <a:srgbClr val="1A1440"/>
          </a:solidFill>
          <a:ln w="12700">
            <a:solidFill>
              <a:srgbClr val="372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9509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arrays sin escribir los valores a mano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np.zeros((2, 3))          # matriz de ceros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np.full((2, 3), 7)         # matriz rellena con un valor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np.eye(3)                  # matriz identidad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np.arange(0, 10, 2)        # secuencia con paso fijo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np.linspace(0, 1, 5)       # valores igualmente espaciados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Agregados y reorganización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puntuaciones.mean(); puntuaciones.std(); np.median(puntuaciones)   # media, desv. típica, mediana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m.reshape(9)                                    # cambia la forma, sin cambiar los datos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np.concatenate([a, b])                          # une arrays en uno solo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6080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ndim, size y dtype te dicen la forma y el tipo de cualquier array antes de operar con él.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Pandas: carga y exploración de datos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trabaja con números; Pandas trabaja con tablas.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058400" cy="146304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PIÉNSALO COMO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72A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Series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de una dimensión, con índice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columna de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72A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DataFrame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de dos dimensiones, columnas con nombre y tipo propio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hoja de Excel completa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794760"/>
            <a:ext cx="10058400" cy="17373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df.loc[fila, columna]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4074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por etiqueta — nombres de fila/columna.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df.iloc[fila, columna]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44074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por posición — números de índice.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contacto con un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058400" cy="4297680"/>
          </a:xfrm>
          <a:prstGeom prst="rect">
            <a:avLst/>
          </a:prstGeom>
          <a:solidFill>
            <a:srgbClr val="1A1440"/>
          </a:solidFill>
          <a:ln w="12700">
            <a:solidFill>
              <a:srgbClr val="372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9509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pd.read_csv("jugadores.csv")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  # primeras 5 filas — vista rápida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  # nº de filas, tipos de dato, nulos por columna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  # media, desviación, min/max de las columnas numéricas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  # (nº filas, nº columnas)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Cuatro formas de seleccionar: df["col"], .loc, .iloc, .query()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alta_habilidad = df[df["puntuacion"] &gt;= 5]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pc_alta_habilidad = df.query("plataforma == 'PC' and puntuacion &gt;= 5")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Resumir y combinar datasets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resume un dataset por categorías; merge lo combina con otra tabla relacionada.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0241280" cy="155448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AGG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df.groupby("plataforma").agg(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puntuacion_media=("puntuacion", "mean"),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n_jugadores=("puntuacion", "count"))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566160"/>
            <a:ext cx="10241280" cy="1554480"/>
          </a:xfrm>
          <a:prstGeom prst="rect">
            <a:avLst/>
          </a:prstGeom>
          <a:solidFill>
            <a:srgbClr val="1A1440"/>
          </a:solidFill>
          <a:ln w="12700">
            <a:solidFill>
              <a:srgbClr val="372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df.merge(analistas, on="plataforma", how="left")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solo lo que coincide en ambas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54680" y="4526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todo lo de la izquierda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77840" y="4526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todo lo de la derecha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01000" y="4526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todo, coincida o no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53492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bien el tipo de merge evita perder filas por accidente — sobre todo cuando no todas las categorías tienen pareja en la otra tabla.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y preprocesamiento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dataset real llega limpio. Tres problemas típicos, tres soluciones directas.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310128" cy="420624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65960"/>
            <a:ext cx="3310128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nulos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852928" cy="105156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62072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df.fillna(df["puntuacion"].mean())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2852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huecos y decide: eliminar o rellenar.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33088" y="1965960"/>
            <a:ext cx="3310128" cy="420624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3088" y="1965960"/>
            <a:ext cx="3310128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361688" y="224028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Duplicados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361688" y="2743200"/>
            <a:ext cx="2852928" cy="105156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2862072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61688" y="3977640"/>
            <a:ext cx="2852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repetidas que distorsionan cualquier análisis.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63256" y="1965960"/>
            <a:ext cx="3310128" cy="420624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63256" y="1965960"/>
            <a:ext cx="3310128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991856" y="224028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Categorías de texto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91856" y="2743200"/>
            <a:ext cx="2852928" cy="105156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21" name="Text 19"/>
          <p:cNvSpPr/>
          <p:nvPr/>
        </p:nvSpPr>
        <p:spPr>
          <a:xfrm>
            <a:off x="8129016" y="2862072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pd.get_dummies(df,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columns=["plataforma"])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91856" y="3977640"/>
            <a:ext cx="2852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necesitan números, no texto.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Matplotlib: tres gráficas, el 80% de los casos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310128" cy="4480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01368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plt.hist(df["puntuacion"], bins=10)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distribuyen los valores de una variable?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33088" y="1508760"/>
            <a:ext cx="3310128" cy="4480560"/>
          </a:xfrm>
          <a:prstGeom prst="rect">
            <a:avLst/>
          </a:prstGeom>
          <a:solidFill>
            <a:srgbClr val="2E8B7A"/>
          </a:solidFill>
          <a:ln/>
        </p:spPr>
      </p:sp>
      <p:sp>
        <p:nvSpPr>
          <p:cNvPr id="9" name="Text 7"/>
          <p:cNvSpPr/>
          <p:nvPr/>
        </p:nvSpPr>
        <p:spPr>
          <a:xfrm>
            <a:off x="4361688" y="1801368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dispersión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361688" y="242316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plt.scatter(x, y)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61688" y="292608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relación entre dos variables numéricas?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63256" y="1508760"/>
            <a:ext cx="3310128" cy="4480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91856" y="1801368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barras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991856" y="242316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plt.bar(categorias, conteos)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91856" y="292608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reparten las categorías?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Cierre: práctica integradora y Scikit-learn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834640" cy="10515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Cargar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1783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77640" y="1508760"/>
            <a:ext cx="2834640" cy="10515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673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Limpiar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20756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nulos, duplicados, categorías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12280" y="1783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0" y="1508760"/>
            <a:ext cx="2834640" cy="10515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1673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Explorar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52360" y="20756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describe(), Matplotlib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10058400" cy="329184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TRAIN/TEST + FIT/PREDICT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3429000"/>
            <a:ext cx="9509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LinearRegression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train_test_split(X, y, test_size=0.2)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LinearRegression()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modelo.fit(X_train, y_train)          # entrena solo con datos de entrenamiento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predicciones = modelo.predict(X_test)  # evalúa con datos que no ha visto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53035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en train/test evita el autoengaño de evaluar un modelo con los mismos datos que ha memorizado durante el entrenamiento.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panorama de herramientas de ML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es donde empezamos — pero conviene saber dónde encaja cada herramienta.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84832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487168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clásico: regresión, clasificación, clustering. Nuestra herramienta principal este curso.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05656" y="1920240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05656" y="1920240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334256" y="2084832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334256" y="2487168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Google para redes neuronales y deep learning a gran escala.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08392" y="1920240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8392" y="1920240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936992" y="2084832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936992" y="2487168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alto nivel sobre TensorFlow — construir redes neuronales con poco código.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776472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776472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41064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Meta para deep learning, muy usado en investigación.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05656" y="3776472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05656" y="3776472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334256" y="3941064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ML Studio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334256" y="4343400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 la nube con interfaz visual, sin necesidad de programar todo el pipeline.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08392" y="3776472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08392" y="3776472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7936992" y="3941064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Teachable Machine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936992" y="4343400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web de Google para entrenar modelos simples sin escribir código.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sabes hacer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73736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Clasificar un problema de ML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228600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Supervisado, no supervisado o por refuerzo — y qué es, formalmente, un modelo.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05656" y="153619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8" name="Text 6"/>
          <p:cNvSpPr/>
          <p:nvPr/>
        </p:nvSpPr>
        <p:spPr>
          <a:xfrm>
            <a:off x="4306824" y="173736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familia de algoritmo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06824" y="228600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variables, tabla de algoritmos, y por qué no hay uno mejor para todo.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08392" y="153619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173736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Manejar NumPy a fondo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09560" y="228600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indexar, agregar, combinar y dar forma a arrays sin bucles explícitos.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97764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Cargar y seleccionar con Pandas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452628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read_csv, describe, cuatro formas de seleccionar filas y columnas.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05656" y="377647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17" name="Text 15"/>
          <p:cNvSpPr/>
          <p:nvPr/>
        </p:nvSpPr>
        <p:spPr>
          <a:xfrm>
            <a:off x="4306824" y="397764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Agrupar, combinar y limpiar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06824" y="452628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groupby, merge, nulos, duplicados y codificación de categóricas.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08392" y="377647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397764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 un primer modelo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09560" y="452628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train_test_split, fit/predict, y el panorama de herramientas del ecosistema.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377440"/>
            <a:ext cx="7772400" cy="7772400"/>
          </a:xfrm>
          <a:prstGeom prst="ellipse">
            <a:avLst/>
          </a:prstGeom>
          <a:solidFill>
            <a:srgbClr val="372A7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937760"/>
            <a:ext cx="3291840" cy="3291840"/>
          </a:xfrm>
          <a:prstGeom prst="ellipse">
            <a:avLst/>
          </a:prstGeom>
          <a:solidFill>
            <a:srgbClr val="F2A93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VIENE: KICKOFF + UT3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21945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Empieza el proyecto.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Empieza lo supervisado.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7: arranca el proyecto en equipo — elegís entre “¿Lo escribió una IA?” y “Transcriptor + resumen de clase”. Justo después, en UT3, entramos en aprendizaje supervisado: regresión, clasificación y las primeras métricas para saber si un modelo funciona de verdad.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Sistemas de Aprendizaje Automático · IES Albarregas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2026-09-26T14:44:40Z</dcterms:created>
  <dcterms:modified xsi:type="dcterms:W3CDTF">2026-09-26T14:44:40Z</dcterms:modified>
</cp:coreProperties>
</file>